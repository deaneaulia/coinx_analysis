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72" r:id="rId4"/>
    <p:sldId id="273" r:id="rId5"/>
  </p:sldIdLst>
  <p:sldSz cx="18288000" cy="10287000"/>
  <p:notesSz cx="6858000" cy="9144000"/>
  <p:embeddedFontLst>
    <p:embeddedFont>
      <p:font typeface="Cormorant Garamond Bold Italics" panose="020B0604020202020204" charset="0"/>
      <p:regular r:id="rId7"/>
    </p:embeddedFont>
    <p:embeddedFont>
      <p:font typeface="Quicksan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287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92" autoAdjust="0"/>
    <p:restoredTop sz="94622" autoAdjust="0"/>
  </p:normalViewPr>
  <p:slideViewPr>
    <p:cSldViewPr>
      <p:cViewPr>
        <p:scale>
          <a:sx n="67" d="100"/>
          <a:sy n="67" d="100"/>
        </p:scale>
        <p:origin x="343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5911C-499A-4B03-B5FB-8E48D28B5AE2}" type="datetimeFigureOut">
              <a:rPr lang="en-ID" smtClean="0"/>
              <a:t>15/11/2025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9D700-D47A-4D4F-82D3-70166D5F31D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3134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9029" y="3696108"/>
            <a:ext cx="16229942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9600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COINX ANALYSIS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649752" y="7032069"/>
            <a:ext cx="6988496" cy="52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Deane Aulia </a:t>
            </a:r>
            <a:r>
              <a:rPr lang="en-US" sz="3141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Ahsanah</a:t>
            </a:r>
            <a:endParaRPr lang="en-US" sz="3141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51911" y="234920"/>
            <a:ext cx="14072064" cy="10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Trading Concentration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24384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F40DF8-DEEA-1C20-00D3-87BC896912B5}"/>
              </a:ext>
            </a:extLst>
          </p:cNvPr>
          <p:cNvSpPr txBox="1"/>
          <p:nvPr/>
        </p:nvSpPr>
        <p:spPr>
          <a:xfrm>
            <a:off x="951911" y="5829442"/>
            <a:ext cx="16459200" cy="327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XRP, Cardano, and Dogecoin collectively account for 99.87% of total trading value, indicating that almost the entire trading activity is dominated by just three tokens.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XRP: 51.24% (≈ $602M)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Cardano: 38.32% (≈ $450M)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Dogecoin: 10.31% (≈ $121M)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All other 6 tokens combined: only 0.13% (≈ $1.1M)This distribution shows an extremely skewed market where the majority of activity is concentrated in a very small set of assets.</a:t>
            </a:r>
            <a:endParaRPr lang="en-ID" sz="2000" dirty="0">
              <a:solidFill>
                <a:srgbClr val="497287"/>
              </a:solidFill>
              <a:latin typeface="Quicksand" panose="020B0604020202020204" charset="0"/>
            </a:endParaRP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583B18BD-9E0C-6F82-6E66-E8D7741646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415405"/>
            <a:ext cx="6773177" cy="4414037"/>
          </a:xfrm>
          <a:prstGeom prst="rect">
            <a:avLst/>
          </a:prstGeom>
        </p:spPr>
      </p:pic>
      <p:pic>
        <p:nvPicPr>
          <p:cNvPr id="5" name="Picture 4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F9869094-F9FC-2BF7-8835-3382405BD9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415405"/>
            <a:ext cx="5225184" cy="44140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06CAF-4C72-C267-0AF2-AD90ABA6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4578C23F-9831-F666-A21D-84559C15ED4D}"/>
              </a:ext>
            </a:extLst>
          </p:cNvPr>
          <p:cNvSpPr txBox="1"/>
          <p:nvPr/>
        </p:nvSpPr>
        <p:spPr>
          <a:xfrm>
            <a:off x="951911" y="234920"/>
            <a:ext cx="14072064" cy="10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Trading Concentration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77D8E2A-A196-9CB0-FBAE-E2DE469CC0BE}"/>
              </a:ext>
            </a:extLst>
          </p:cNvPr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D450B0BE-18B5-9835-DBC2-8F2AF9BBB51E}"/>
              </a:ext>
            </a:extLst>
          </p:cNvPr>
          <p:cNvSpPr/>
          <p:nvPr/>
        </p:nvSpPr>
        <p:spPr>
          <a:xfrm>
            <a:off x="1024384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D2F455-214D-BDDB-EF05-1EFF5C0F1AB9}"/>
              </a:ext>
            </a:extLst>
          </p:cNvPr>
          <p:cNvSpPr txBox="1"/>
          <p:nvPr/>
        </p:nvSpPr>
        <p:spPr>
          <a:xfrm>
            <a:off x="951911" y="5829442"/>
            <a:ext cx="16459200" cy="2808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Platform trading volume is not broadly distributed. Instead, it is highly concentrated among a few top traders, indicating that total trading volume growth is likely inflated by a small set of users rather than broad organic growth.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Top 3 users contribute the majority of volume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The first user alone contributes ~41.5% of total trade value.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The second and third users push the cumulative share to ~84%.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This means 3 users = ~84% of all trading volume.</a:t>
            </a:r>
            <a:endParaRPr lang="en-ID" sz="2000" dirty="0">
              <a:solidFill>
                <a:srgbClr val="497287"/>
              </a:solidFill>
              <a:latin typeface="Quicksand" panose="020B0604020202020204" charset="0"/>
            </a:endParaRPr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C9025B91-B9D0-73A0-30D7-9BE92BACFE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476240"/>
            <a:ext cx="10210800" cy="421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1D264-80F3-3AE0-625A-9F20B77D3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5243F668-5937-C77A-9787-5ED630D00BC0}"/>
              </a:ext>
            </a:extLst>
          </p:cNvPr>
          <p:cNvSpPr txBox="1"/>
          <p:nvPr/>
        </p:nvSpPr>
        <p:spPr>
          <a:xfrm>
            <a:off x="951911" y="234920"/>
            <a:ext cx="14072064" cy="10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User Retention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CC64616-4C98-3642-49D8-07C1B5862C85}"/>
              </a:ext>
            </a:extLst>
          </p:cNvPr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4733172-055C-4E17-BEAB-0FB96FC53FF5}"/>
              </a:ext>
            </a:extLst>
          </p:cNvPr>
          <p:cNvSpPr/>
          <p:nvPr/>
        </p:nvSpPr>
        <p:spPr>
          <a:xfrm>
            <a:off x="1024384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57072B-9A87-E666-9A93-8BA1A2AD4138}"/>
              </a:ext>
            </a:extLst>
          </p:cNvPr>
          <p:cNvSpPr txBox="1"/>
          <p:nvPr/>
        </p:nvSpPr>
        <p:spPr>
          <a:xfrm>
            <a:off x="1024384" y="7193813"/>
            <a:ext cx="7734889" cy="2346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Some regions show stable and consistently high retention up to M+5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Strong retention : Bandung, Medan, Makassar.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Moderate retention : Semarang, Yogyakarta.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ID" sz="2000" dirty="0">
                <a:solidFill>
                  <a:srgbClr val="497287"/>
                </a:solidFill>
                <a:latin typeface="Quicksand" panose="020B0604020202020204" charset="0"/>
              </a:rPr>
              <a:t>Weak retention : Surabaya, Denpasar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B3B0E2-A419-812C-3E42-4307D77E8458}"/>
              </a:ext>
            </a:extLst>
          </p:cNvPr>
          <p:cNvSpPr txBox="1"/>
          <p:nvPr/>
        </p:nvSpPr>
        <p:spPr>
          <a:xfrm>
            <a:off x="9144000" y="7200900"/>
            <a:ext cx="8192089" cy="1885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Layer-1 tokens have the strongest and most stable retention.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 Stablecoin users show mixed retention. Good early retention (60–100%), but decline faster by M+4/M+5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497287"/>
                </a:solidFill>
                <a:latin typeface="Quicksand" panose="020B0604020202020204" charset="0"/>
              </a:rPr>
              <a:t>Meme coin users are the least sticky. Retention drops quickly.</a:t>
            </a:r>
          </a:p>
        </p:txBody>
      </p:sp>
      <p:pic>
        <p:nvPicPr>
          <p:cNvPr id="18" name="Picture 1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DDC6BA8-5872-47C1-0D70-2AE245E149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539549"/>
            <a:ext cx="5208244" cy="5562959"/>
          </a:xfrm>
          <a:prstGeom prst="rect">
            <a:avLst/>
          </a:prstGeom>
        </p:spPr>
      </p:pic>
      <p:pic>
        <p:nvPicPr>
          <p:cNvPr id="21" name="Picture 20" descr="A screenshot of a graph&#10;&#10;AI-generated content may be incorrect.">
            <a:extLst>
              <a:ext uri="{FF2B5EF4-FFF2-40B4-BE49-F238E27FC236}">
                <a16:creationId xmlns:a16="http://schemas.microsoft.com/office/drawing/2014/main" id="{C9E1AE70-D124-E69E-14AE-44CBA2B601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613" y="1534106"/>
            <a:ext cx="5233690" cy="55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2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273</Words>
  <Application>Microsoft Office PowerPoint</Application>
  <PresentationFormat>Custom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Quicksand</vt:lpstr>
      <vt:lpstr>Calibri</vt:lpstr>
      <vt:lpstr>Arial</vt:lpstr>
      <vt:lpstr>Aptos</vt:lpstr>
      <vt:lpstr>Cormorant Garamond Bold Italics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Simple Modern Enhancing Sales Strategy Presentation</dc:title>
  <dc:creator>deane aulia</dc:creator>
  <cp:lastModifiedBy>deane aulia</cp:lastModifiedBy>
  <cp:revision>7</cp:revision>
  <dcterms:created xsi:type="dcterms:W3CDTF">2006-08-16T00:00:00Z</dcterms:created>
  <dcterms:modified xsi:type="dcterms:W3CDTF">2025-11-15T12:15:44Z</dcterms:modified>
  <dc:identifier>DAGzeVDLwdY</dc:identifier>
</cp:coreProperties>
</file>